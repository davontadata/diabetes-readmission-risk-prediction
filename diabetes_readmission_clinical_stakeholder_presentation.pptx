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30352"/>
            <a:ext cx="10927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FFFFFF"/>
                </a:solidFill>
                <a:latin typeface="Aptos"/>
              </a:rPr>
              <a:t>Predicting 30-Day Hospital Readmission Risk</a:t>
            </a:r>
            <a:br/>
            <a:r>
              <a:rPr sz="2900" b="1">
                <a:solidFill>
                  <a:srgbClr val="FFFFFF"/>
                </a:solidFill>
                <a:latin typeface="Aptos"/>
              </a:rPr>
              <a:t>Among Emergency Inpatient Encounters With Diabetes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190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CDE0E9"/>
                </a:solidFill>
                <a:latin typeface="Aptos"/>
              </a:rPr>
              <a:t>End-to-end healthcare data-science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14600"/>
            <a:ext cx="2788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7614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04A"/>
                </a:solidFill>
                <a:latin typeface="Aptos"/>
              </a:rPr>
              <a:t>SQL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76B87"/>
                </a:solidFill>
                <a:latin typeface="Aptos"/>
              </a:rPr>
              <a:t>Source + database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3502152"/>
            <a:ext cx="2459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243746"/>
                </a:solidFill>
                <a:latin typeface="Aptos"/>
              </a:rPr>
              <a:t>Diabetes encounter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8728" y="30815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514600"/>
            <a:ext cx="3749039" cy="1554480"/>
          </a:xfrm>
          <a:prstGeom prst="roundRect">
            <a:avLst/>
          </a:prstGeom>
          <a:solidFill>
            <a:srgbClr val="E8F3F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27614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04A"/>
                </a:solidFill>
                <a:latin typeface="Aptos"/>
              </a:rPr>
              <a:t>JUPYTER NOTEBOOK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154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76B87"/>
                </a:solidFill>
                <a:latin typeface="Aptos"/>
              </a:rPr>
              <a:t>Primary data-science environment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2231" y="3502152"/>
            <a:ext cx="3419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243746"/>
                </a:solidFill>
                <a:latin typeface="Aptos"/>
              </a:rPr>
              <a:t>Connection → extraction → cleaning → EDA → 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7" y="30815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514600"/>
            <a:ext cx="32461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76148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04A"/>
                </a:solidFill>
                <a:latin typeface="Aptos"/>
              </a:rPr>
              <a:t>STREAMLIT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15468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76B87"/>
                </a:solidFill>
                <a:latin typeface="Aptos"/>
              </a:rPr>
              <a:t>Application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2" y="3502152"/>
            <a:ext cx="2916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243746"/>
                </a:solidFill>
                <a:latin typeface="Aptos"/>
              </a:rPr>
              <a:t>Trained model made interactive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26280"/>
            <a:ext cx="10561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DE0E9"/>
                </a:solidFill>
                <a:latin typeface="Aptos"/>
              </a:rPr>
              <a:t>PROJECT OBJECTIVE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92040"/>
            <a:ext cx="10378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Aptos"/>
              </a:rPr>
              <a:t>Identify demographic, clinical, and healthcare-utilization factors associated with 30-day readmission and develop a machine-learning-ready risk model.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70448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DE0E9"/>
                </a:solidFill>
                <a:latin typeface="Aptos"/>
              </a:rPr>
              <a:t>Cohort: 19,689 emergency inpatient encounters with diabetes  |  Outcome: readmission within 30 days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2304A"/>
                </a:solidFill>
                <a:latin typeface="Aptos"/>
              </a:rPr>
              <a:t>Executive Summary: What I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76B87"/>
                </a:solidFill>
                <a:latin typeface="Aptos"/>
              </a:rPr>
              <a:t>The entire data-science workflow was performed in Jupyter Notebook, connected directly to SQL Server.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6812280" cy="434340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7335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76B87"/>
                </a:solidFill>
                <a:latin typeface="Aptos"/>
              </a:rPr>
              <a:t>Workflow completed in the Jupyter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6B87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1488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2304A"/>
                </a:solidFill>
                <a:latin typeface="Aptos"/>
              </a:rPr>
              <a:t>SQL Server connection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148840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43746"/>
                </a:solidFill>
                <a:latin typeface="Aptos"/>
              </a:rPr>
              <a:t>Connected Jupyter/Python to SQL Server and queried the healthcare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072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6B87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8072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2304A"/>
                </a:solidFill>
                <a:latin typeface="Aptos"/>
              </a:rPr>
              <a:t>Cohort + cleaning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807208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43746"/>
                </a:solidFill>
                <a:latin typeface="Aptos"/>
              </a:rPr>
              <a:t>Built the diabetes emergency-admission cohort and cleaned/standardized the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6557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6B87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46557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2304A"/>
                </a:solidFill>
                <a:latin typeface="Aptos"/>
              </a:rPr>
              <a:t>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3465576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43746"/>
                </a:solidFill>
                <a:latin typeface="Aptos"/>
              </a:rPr>
              <a:t>Performed EDA, clinical/utilization analysis, and feature engineering.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2394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6B87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1239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2304A"/>
                </a:solidFill>
                <a:latin typeface="Aptos"/>
              </a:rPr>
              <a:t>Machine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4123944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43746"/>
                </a:solidFill>
                <a:latin typeface="Aptos"/>
              </a:rPr>
              <a:t>Trained and compared Logistic Regression, Random Forest, and XGBoost.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823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6B87"/>
                </a:solidFill>
                <a:latin typeface="Apto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7823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2304A"/>
                </a:solidFill>
                <a:latin typeface="Aptos"/>
              </a:rPr>
              <a:t>Evaluation + 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4782312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43746"/>
                </a:solidFill>
                <a:latin typeface="Aptos"/>
              </a:rPr>
              <a:t>Evaluated baseline and tuned models, analyzed calibration and thresholds, saved the final model, and used it in Streamlit.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1417320"/>
            <a:ext cx="3703320" cy="914400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82127" y="1527048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19,689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600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Emergency inpatient encounters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79" y="2514600"/>
            <a:ext cx="3703320" cy="914400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82127" y="2624328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2,231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697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30-day readmissions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26679" y="3611880"/>
            <a:ext cx="3703320" cy="914400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82127" y="3721608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0.698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3794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Logistic Regression ROC-AUC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26679" y="4709160"/>
            <a:ext cx="3703320" cy="914400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82127" y="4818888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59.0%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892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Logistic Regression recall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05332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2304A"/>
                </a:solidFill>
                <a:latin typeface="Aptos"/>
              </a:rPr>
              <a:t>Key message: SQL Server supplied the data; Jupyter Notebook performed the project; Streamlit provided the application layer.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Clinical Question &amp; Cohort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777"/>
                </a:solidFill>
                <a:latin typeface="Aptos"/>
              </a:rPr>
              <a:t>From a clinical problem to an analyzable population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6B87"/>
                </a:solidFill>
                <a:latin typeface="Aptos"/>
              </a:rPr>
              <a:t>Research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10789920" cy="96012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2304A"/>
                </a:solidFill>
                <a:latin typeface="Aptos"/>
              </a:rPr>
              <a:t>Which demographic, clinical, and healthcare-utilization factors are associated with 30-day hospital readmission among emergency inpatient encounters with diabetes?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6B87"/>
                </a:solidFill>
                <a:latin typeface="Aptos"/>
              </a:rPr>
              <a:t>Cohort 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43746"/>
                </a:solidFill>
                <a:latin typeface="Aptos"/>
              </a:defRPr>
            </a:pPr>
            <a:r>
              <a:rPr sz="1300" b="0">
                <a:solidFill>
                  <a:srgbClr val="243746"/>
                </a:solidFill>
                <a:latin typeface="Aptos"/>
              </a:rPr>
              <a:t>• Source: Diabetes 130-US Hospitals dataset (101,766 encounters; 50 variables).</a:t>
            </a:r>
            <a:br/>
            <a:r>
              <a:rPr sz="1300" b="0">
                <a:solidFill>
                  <a:srgbClr val="243746"/>
                </a:solidFill>
                <a:latin typeface="Aptos"/>
              </a:rPr>
              <a:t>• Diabetes-related encounters identified using ICD-9 diagnosis codes beginning with 250%.</a:t>
            </a:r>
            <a:br/>
            <a:r>
              <a:rPr sz="1300" b="0">
                <a:solidFill>
                  <a:srgbClr val="243746"/>
                </a:solidFill>
                <a:latin typeface="Aptos"/>
              </a:rPr>
              <a:t>• Emergency admissions selected using admission_type_id = 1.</a:t>
            </a:r>
            <a:br/>
            <a:r>
              <a:rPr sz="1300" b="0">
                <a:solidFill>
                  <a:srgbClr val="243746"/>
                </a:solidFill>
                <a:latin typeface="Aptos"/>
              </a:rPr>
              <a:t>• Final cohort: 19,689 emergency inpatient encounters.</a:t>
            </a:r>
            <a:br/>
            <a:r>
              <a:rPr sz="1300" b="0">
                <a:solidFill>
                  <a:srgbClr val="243746"/>
                </a:solidFill>
                <a:latin typeface="Aptos"/>
              </a:rPr>
              <a:t>• Target: &lt;30 days = 1; NO or &gt;30 = 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971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6B87"/>
                </a:solidFill>
                <a:latin typeface="Aptos"/>
              </a:rPr>
              <a:t>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4290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4A"/>
                </a:solidFill>
                <a:latin typeface="Aptos"/>
              </a:rPr>
              <a:t>SQL Server</a:t>
            </a:r>
            <a:br/>
            <a:r>
              <a:t>↓</a:t>
            </a:r>
            <a:br/>
            <a:r>
              <a:t>Cohort extraction → cleaning → EDA</a:t>
            </a:r>
            <a:br/>
            <a:r>
              <a:t>↓</a:t>
            </a:r>
            <a:br/>
            <a:r>
              <a:t>Feature engineering → stratified split</a:t>
            </a:r>
            <a:br/>
            <a:r>
              <a:t>↓</a:t>
            </a:r>
            <a:br/>
            <a:r>
              <a:t>Modeling → evaluation → interpretation</a:t>
            </a:r>
            <a:br/>
            <a:r>
              <a:t>↓</a:t>
            </a:r>
            <a:br/>
            <a:r>
              <a:t>Saved model for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03  CLINICAL QUESTION &amp; COHORT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651052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Who Is in the Cohort?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777"/>
                </a:solidFill>
                <a:latin typeface="Aptos"/>
              </a:rPr>
              <a:t>Cohort profile from the emergency inpatient encounter dataset</a:t>
            </a:r>
          </a:p>
        </p:txBody>
      </p:sp>
      <p:pic>
        <p:nvPicPr>
          <p:cNvPr id="5" name="Picture 4" descr="nb_cell_7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3657600" cy="2487168"/>
          </a:xfrm>
          <a:prstGeom prst="rect">
            <a:avLst/>
          </a:prstGeom>
        </p:spPr>
      </p:pic>
      <p:pic>
        <p:nvPicPr>
          <p:cNvPr id="6" name="Picture 5" descr="nb_cell_7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325880"/>
            <a:ext cx="3337560" cy="2450592"/>
          </a:xfrm>
          <a:prstGeom prst="rect">
            <a:avLst/>
          </a:prstGeom>
        </p:spPr>
      </p:pic>
      <p:pic>
        <p:nvPicPr>
          <p:cNvPr id="7" name="Picture 6" descr="nb_cell_80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325880"/>
            <a:ext cx="3886200" cy="24871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160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2304A"/>
                </a:solidFill>
                <a:latin typeface="Aptos"/>
              </a:rPr>
              <a:t>Female 54.4% | Male 45.6% | White 66.5% | Black 27.4%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983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43746"/>
                </a:solidFill>
                <a:latin typeface="Aptos"/>
              </a:rPr>
              <a:t>Age is concentrated around the 55-, 65-, and 75-year groups. This demographic mix matters when considering model transportability to a different hospital or patient population.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172200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Cohort: emergency inpatient encounters with diabetes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04  COHORT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651052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The Clinical Outcome: 30-Day Readmission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777"/>
                </a:solidFill>
                <a:latin typeface="Aptos"/>
              </a:rPr>
              <a:t>The target is clinically meaningful—and strongly imbalanced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514600" cy="114300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490472"/>
            <a:ext cx="2368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12304A"/>
                </a:solidFill>
                <a:latin typeface="Aptos"/>
              </a:rPr>
              <a:t>17,458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1" y="1920240"/>
            <a:ext cx="2368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26777"/>
                </a:solidFill>
                <a:latin typeface="Aptos"/>
              </a:rPr>
              <a:t>no 30-day readmission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325880"/>
            <a:ext cx="2514600" cy="114300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152" y="1490472"/>
            <a:ext cx="2368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12304A"/>
                </a:solidFill>
                <a:latin typeface="Aptos"/>
              </a:rPr>
              <a:t>2,231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2152" y="1920240"/>
            <a:ext cx="2368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26777"/>
                </a:solidFill>
                <a:latin typeface="Aptos"/>
              </a:rPr>
              <a:t>30-day readmissions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2514600" cy="114300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490472"/>
            <a:ext cx="2368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12304A"/>
                </a:solidFill>
                <a:latin typeface="Aptos"/>
              </a:rPr>
              <a:t>88.67%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1920240"/>
            <a:ext cx="2368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26777"/>
                </a:solidFill>
                <a:latin typeface="Aptos"/>
              </a:rPr>
              <a:t>non-readmission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325880"/>
            <a:ext cx="2514600" cy="114300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9992" y="1490472"/>
            <a:ext cx="2368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12304A"/>
                </a:solidFill>
                <a:latin typeface="Aptos"/>
              </a:rPr>
              <a:t>11.33%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1920240"/>
            <a:ext cx="2368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26777"/>
                </a:solidFill>
                <a:latin typeface="Aptos"/>
              </a:rPr>
              <a:t>readmission</a:t>
            </a:r>
          </a:p>
        </p:txBody>
      </p:sp>
      <p:pic>
        <p:nvPicPr>
          <p:cNvPr id="17" name="Picture 16" descr="nb_cell_128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2743200"/>
            <a:ext cx="6400800" cy="32461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464040" y="2880360"/>
            <a:ext cx="1965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304A"/>
                </a:solidFill>
                <a:latin typeface="Aptos"/>
              </a:rPr>
              <a:t>Why imbalance matters</a:t>
            </a:r>
            <a:br/>
            <a:br/>
            <a:r>
              <a:rPr sz="1300" b="0">
                <a:solidFill>
                  <a:srgbClr val="12304A"/>
                </a:solidFill>
                <a:latin typeface="Aptos"/>
              </a:rPr>
              <a:t>A model can look “accurate” while still missing many encounters that actually readmit.</a:t>
            </a:r>
            <a:br/>
            <a:br/>
            <a:r>
              <a:rPr sz="1300" b="0">
                <a:solidFill>
                  <a:srgbClr val="12304A"/>
                </a:solidFill>
                <a:latin typeface="Aptos"/>
              </a:rPr>
              <a:t>That is why recall, precision, F1, and ROC-AUC are all important.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6172200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Cohort: emergency inpatient encounters with diabetes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05 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651052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Healthcare Utilization Emerged as a Key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777"/>
                </a:solidFill>
                <a:latin typeface="Aptos"/>
              </a:rPr>
              <a:t>Observed utilization showed the clearest risk pattern</a:t>
            </a:r>
          </a:p>
        </p:txBody>
      </p:sp>
      <p:pic>
        <p:nvPicPr>
          <p:cNvPr id="5" name="Picture 4" descr="nb_cell_14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5349240" cy="3611880"/>
          </a:xfrm>
          <a:prstGeom prst="rect">
            <a:avLst/>
          </a:prstGeom>
        </p:spPr>
      </p:pic>
      <p:pic>
        <p:nvPicPr>
          <p:cNvPr id="6" name="Picture 5" descr="nb_cell_16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25880"/>
            <a:ext cx="5349240" cy="3566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0749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43746"/>
                </a:solidFill>
                <a:latin typeface="Aptos"/>
              </a:defRPr>
            </a:pPr>
            <a:r>
              <a:rPr sz="1300" b="0">
                <a:solidFill>
                  <a:srgbClr val="243746"/>
                </a:solidFill>
                <a:latin typeface="Aptos"/>
              </a:rPr>
              <a:t>• Mean observed inpatient encounters: 1.51 among encounters without 30-day readmission vs 2.81 among 30-day readmission encounters.</a:t>
            </a:r>
            <a:br/>
            <a:r>
              <a:rPr sz="1300" b="0">
                <a:solidFill>
                  <a:srgbClr val="243746"/>
                </a:solidFill>
                <a:latin typeface="Aptos"/>
              </a:rPr>
              <a:t>• Mean length of stay: 3.82 vs 4.39 days. These are observed cohort-level patterns, not confirmed prior visits.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172200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Cohort: emergency inpatient encounters with diabetes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06  EXPLORATORY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651052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06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Clinical &amp; Diabetes-Management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777"/>
                </a:solidFill>
                <a:latin typeface="Aptos"/>
              </a:rPr>
              <a:t>Glycemic and treatment variables were evaluated alongside utilization</a:t>
            </a:r>
          </a:p>
        </p:txBody>
      </p:sp>
      <p:pic>
        <p:nvPicPr>
          <p:cNvPr id="5" name="Picture 4" descr="nb_cell_109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5257800" cy="3611880"/>
          </a:xfrm>
          <a:prstGeom prst="rect">
            <a:avLst/>
          </a:prstGeom>
        </p:spPr>
      </p:pic>
      <p:pic>
        <p:nvPicPr>
          <p:cNvPr id="6" name="Picture 5" descr="nb_cell_11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57800" cy="3611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1663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43746"/>
                </a:solidFill>
                <a:latin typeface="Aptos"/>
              </a:rPr>
              <a:t>A1C, maximum glucose, insulin, and medication-change indicators were evaluated as candidate predictors. In the fitted model, utilization variables provided stronger positive signal than many individual glycemic categories.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172200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Cohort: emergency inpatient encounters with diabetes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07  CLINICAL VARIABLES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651052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07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Machine-Learning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777"/>
                </a:solidFill>
                <a:latin typeface="Aptos"/>
              </a:rPr>
              <a:t>Three supervised classifiers were compared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17320"/>
          <a:ext cx="109270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  <a:gridCol w="4526280"/>
              </a:tblGrid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73152" marR="73152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Strength</a:t>
                      </a:r>
                    </a:p>
                  </a:txBody>
                  <a:tcPr marL="73152" marR="73152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Tradeoff</a:t>
                      </a:r>
                    </a:p>
                  </a:txBody>
                  <a:tcPr marL="73152" marR="73152">
                    <a:solidFill>
                      <a:srgbClr val="1230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Logistic Regression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Interpretable coefficients; clinical explanation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Moderate discrimination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 marL="73152" marR="73152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Nonlinear ensemble</a:t>
                      </a:r>
                    </a:p>
                  </a:txBody>
                  <a:tcPr marL="73152" marR="73152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Weak readmission recall in this experiment</a:t>
                      </a:r>
                    </a:p>
                  </a:txBody>
                  <a:tcPr marL="73152" marR="73152">
                    <a:solidFill>
                      <a:srgbClr val="F3F7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XGBoost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Gradient-boosted nonlinear model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Below Logistic Regression on ROC-AUC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61772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2304A"/>
                </a:solidFill>
                <a:latin typeface="Aptos"/>
              </a:rPr>
              <a:t>Modeling dataset: 19,689 emergency inpatient encounters × 23 encoded predictors. The model began with 13 predictors before one-hot encoding. Stratified train/test split: 15,751 training and 3,938 testing encounters.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172200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Cohort: emergency inpatient encounters with diabetes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08  MODEL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651052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08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Model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777"/>
                </a:solidFill>
                <a:latin typeface="Aptos"/>
              </a:rPr>
              <a:t>Baseline Logistic Regression was selected as the final classification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114800"/>
            <a:ext cx="10241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200">
                <a:latin typeface="Aptos"/>
              </a:defRPr>
            </a:pPr>
            <a:r>
              <a:t>Selection rationale: The baseline Logistic Regression model had the highest recall (59.0%) and F1-score (0.309) among the evaluated baseline and tuned configurations, while maintaining interpretability.</a:t>
            </a:r>
          </a:p>
          <a:p>
            <a:pPr>
              <a:spcAft>
                <a:spcPts val="1000"/>
              </a:spcAft>
              <a:defRPr sz="1200">
                <a:latin typeface="Aptos"/>
              </a:defRPr>
            </a:pPr>
            <a:r>
              <a:t>Probability calibration improved the Brier score from 0.2376 to 0.0986. A calibrated threshold of 0.11 increased recall to 60.3%, but lowered precision, F1-score, ROC-AUC, PR-AUC, and accuracy. The baseline 0.50 configuration therefore remained the final classification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892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172200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Cohort: emergency inpatient encounters with diabetes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09  MODEL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651052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09 / 17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1417320"/>
          <a:ext cx="4572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</a:tblGrid>
              <a:tr h="339634">
                <a:tc>
                  <a:txBody>
                    <a:bodyPr/>
                    <a:lstStyle/>
                    <a:p>
                      <a:pPr>
                        <a:defRPr sz="1200" b="1"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Aptos"/>
                        </a:defRPr>
                      </a:pPr>
                      <a:r>
                        <a:t>Final Logistic Regression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300" b="0">
                          <a:latin typeface="Aptos"/>
                        </a:defRPr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latin typeface="Aptos"/>
                        </a:defRPr>
                      </a:pPr>
                      <a:r>
                        <a:t>70.1%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300" b="0">
                          <a:latin typeface="Aptos"/>
                        </a:defRPr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latin typeface="Aptos"/>
                        </a:defRPr>
                      </a:pPr>
                      <a:r>
                        <a:t>20.9%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300" b="0">
                          <a:latin typeface="Aptos"/>
                        </a:defRPr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latin typeface="Aptos"/>
                        </a:defRPr>
                      </a:pPr>
                      <a:r>
                        <a:t>59.0%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300" b="0">
                          <a:latin typeface="Aptos"/>
                        </a:defRPr>
                      </a:pPr>
                      <a:r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latin typeface="Aptos"/>
                        </a:defRPr>
                      </a:pPr>
                      <a:r>
                        <a:t>0.309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300" b="0">
                          <a:latin typeface="Aptos"/>
                        </a:defRPr>
                      </a:pPr>
                      <a:r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latin typeface="Aptos"/>
                        </a:defRPr>
                      </a:pPr>
                      <a:r>
                        <a:t>0.698</a:t>
                      </a:r>
                    </a:p>
                  </a:txBody>
                  <a:tcPr/>
                </a:tc>
              </a:tr>
              <a:tr h="339636">
                <a:tc>
                  <a:txBody>
                    <a:bodyPr/>
                    <a:lstStyle/>
                    <a:p>
                      <a:pPr>
                        <a:defRPr sz="1300" b="0">
                          <a:latin typeface="Aptos"/>
                        </a:defRPr>
                      </a:pPr>
                      <a:r>
                        <a:t>PR-AUC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latin typeface="Aptos"/>
                        </a:defRPr>
                      </a:pPr>
                      <a:r>
                        <a:t>0.251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What the Selected Model Actually Catches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777"/>
                </a:solidFill>
                <a:latin typeface="Aptos"/>
              </a:rPr>
              <a:t>Confusion matrix from the Logistic Regression test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141732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6B87"/>
                </a:solidFill>
                <a:latin typeface="Aptos"/>
              </a:rPr>
              <a:t>Test-set 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874519"/>
            <a:ext cx="4572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446 actual 30-day readmission encounters in the test set.</a:t>
            </a:r>
            <a:br/>
            <a:r>
              <a:t>• 263 true positives identified.</a:t>
            </a:r>
            <a:br/>
            <a:r>
              <a:t>• 183 readmission encounters missed (false negatives).</a:t>
            </a:r>
            <a:br/>
            <a:r>
              <a:t>• 993 false positives flagged.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4526280"/>
            <a:ext cx="4754880" cy="109728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4736592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2304A"/>
                </a:solidFill>
                <a:latin typeface="Aptos"/>
              </a:rPr>
              <a:t>Best current use: risk-enrichment list for human review—not autonomous clinical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172200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Cohort: emergency inpatient encounters with diabetes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10  MODEL 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651052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10 / 17</a:t>
            </a:r>
          </a:p>
        </p:txBody>
      </p:sp>
      <p:pic>
        <p:nvPicPr>
          <p:cNvPr id="15" name="Picture 14" descr="confusion_matrix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562356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Interpretable Drivers of Predicted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777"/>
                </a:solidFill>
                <a:latin typeface="Aptos"/>
              </a:rPr>
              <a:t>Logistic Regression provides an explainable starting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6B87"/>
                </a:solidFill>
                <a:latin typeface="Aptos"/>
              </a:rPr>
              <a:t>Key model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874519"/>
            <a:ext cx="3794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number_emergency: strongest positive coefficient (+0.206; OR 1.229)</a:t>
            </a:r>
            <a:br/>
            <a:r>
              <a:t>• number_diagnoses: positive association (+0.094; OR 1.098)</a:t>
            </a:r>
            <a:br/>
            <a:r>
              <a:t>• insulin_Down: positive association (+0.082; OR 1.086)</a:t>
            </a:r>
            <a:br/>
            <a:r>
              <a:t>• time_in_hospital: positive association (+0.038; OR 1.039)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45262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304A"/>
                </a:solidFill>
                <a:latin typeface="Aptos"/>
              </a:rPr>
              <a:t>Coefficients describe associations in the fitted model—not causal effects.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172200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Cohort: emergency inpatient encounters with diabetes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11  MODEL DRIVERS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651052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11 / 17</a:t>
            </a:r>
          </a:p>
        </p:txBody>
      </p:sp>
      <p:pic>
        <p:nvPicPr>
          <p:cNvPr id="14" name="Picture 13" descr="coefficients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34440"/>
            <a:ext cx="662940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2304A"/>
                </a:solidFill>
                <a:latin typeface="Aptos"/>
              </a:rPr>
              <a:t>Model Deployment: From Jupyter Notebook to Streamlit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6777"/>
                </a:solidFill>
                <a:latin typeface="Aptos"/>
              </a:rPr>
              <a:t>The complete data-science workflow was performed in the Jupyter Notebook environment.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971800" cy="141732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934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76B87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158191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04A"/>
                </a:solidFill>
                <a:latin typeface="Aptos"/>
              </a:rPr>
              <a:t>SQL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43746"/>
                </a:solidFill>
                <a:latin typeface="Aptos"/>
              </a:rPr>
              <a:t>Data storage + SQL queries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5887" y="187451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76B87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417320"/>
            <a:ext cx="3611880" cy="1417320"/>
          </a:xfrm>
          <a:prstGeom prst="roundRect">
            <a:avLst/>
          </a:prstGeom>
          <a:solidFill>
            <a:srgbClr val="E8F3F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60934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76B87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1581912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04A"/>
                </a:solidFill>
                <a:latin typeface="Aptos"/>
              </a:rPr>
              <a:t>JUPYTER NOTEBOOK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993392"/>
            <a:ext cx="3246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43746"/>
                </a:solidFill>
                <a:latin typeface="Aptos"/>
              </a:rPr>
              <a:t>Connection, extraction, cleaning, EDA,</a:t>
            </a:r>
            <a:br/>
            <a:r>
              <a:rPr sz="1050" b="0">
                <a:solidFill>
                  <a:srgbClr val="243746"/>
                </a:solidFill>
                <a:latin typeface="Aptos"/>
              </a:rPr>
              <a:t>feature engineering, ML,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187451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76B87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417320"/>
            <a:ext cx="3383280" cy="141732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60934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76B87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15819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04A"/>
                </a:solidFill>
                <a:latin typeface="Aptos"/>
              </a:rPr>
              <a:t>STREAMLIT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93392"/>
            <a:ext cx="3017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43746"/>
                </a:solidFill>
                <a:latin typeface="Aptos"/>
              </a:rPr>
              <a:t>Application using the trained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246120"/>
            <a:ext cx="10652760" cy="1234440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493008"/>
            <a:ext cx="10104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JUPYTER NOTEBOOK = PRIMARY DATA-SCIENCE ENVIRONMENT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913632"/>
            <a:ext cx="10104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SQL Server connection → data extraction → cohort construction → cleaning → EDA → feature engineering → model training → evaluation → model saving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800600"/>
            <a:ext cx="5074920" cy="114300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010912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76B87"/>
                </a:solidFill>
                <a:latin typeface="Aptos"/>
              </a:rPr>
              <a:t>CURRENT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340096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12304A"/>
                </a:solidFill>
                <a:latin typeface="Aptos"/>
              </a:rPr>
              <a:t>SQL Server + Jupyter + trained ML model + Streamlit prototype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800600"/>
            <a:ext cx="5074920" cy="1143000"/>
          </a:xfrm>
          <a:prstGeom prst="roundRect">
            <a:avLst/>
          </a:prstGeom>
          <a:solidFill>
            <a:srgbClr val="F5F7F8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5010912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76B87"/>
                </a:solidFill>
                <a:latin typeface="Aptos"/>
              </a:rPr>
              <a:t>FUTURE CLINICAL 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340096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12304A"/>
                </a:solidFill>
                <a:latin typeface="Aptos"/>
              </a:rPr>
              <a:t>External validation + calibration + clinical workflow integration + monitoring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What Must Happen Before Clinical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777"/>
                </a:solidFill>
                <a:latin typeface="Aptos"/>
              </a:rPr>
              <a:t>Validation is the next major milestone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  <a:latin typeface="Aptos"/>
              </a:defRPr>
            </a:pPr>
            <a:r>
              <a:t>• External validation on a separate hospital, health system, or time period.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  <a:latin typeface="Aptos"/>
              </a:defRPr>
            </a:pPr>
            <a:r>
              <a:t>• Probability calibration and clinically meaningful operating thresholds.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  <a:latin typeface="Aptos"/>
              </a:defRPr>
            </a:pPr>
            <a:r>
              <a:t>• Review false positives and false negatives with clinicians/case managers.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  <a:latin typeface="Aptos"/>
              </a:defRPr>
            </a:pPr>
            <a:r>
              <a:t>• Evaluate performance and fairness across demographic subgroups.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  <a:latin typeface="Aptos"/>
              </a:defRPr>
            </a:pPr>
            <a:r>
              <a:t>• Define the intervention attached to a high-risk flag.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  <a:latin typeface="Aptos"/>
              </a:defRPr>
            </a:pPr>
            <a:r>
              <a:t>• Prospective monitoring after implementation.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63040"/>
            <a:ext cx="4754880" cy="3474720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187451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Stakeholder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651760"/>
            <a:ext cx="3931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If the score were accurate enough for your setting,</a:t>
            </a:r>
            <a:br/>
            <a:br/>
            <a:r>
              <a:rPr sz="2000" b="1">
                <a:solidFill>
                  <a:srgbClr val="FFFFFF"/>
                </a:solidFill>
                <a:latin typeface="Aptos"/>
              </a:rPr>
              <a:t>what clinical action would you want it to trigger?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525780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2304A"/>
                </a:solidFill>
                <a:latin typeface="Aptos"/>
              </a:rPr>
              <a:t>The intervention should be designed before deployment.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13  CLINICAL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651052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Bottom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777"/>
                </a:solidFill>
                <a:latin typeface="Aptos"/>
              </a:rPr>
              <a:t>A complete clinical data-science workflow—not just 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486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  <a:latin typeface="Aptos"/>
              </a:defRPr>
            </a:pPr>
            <a:r>
              <a:rPr sz="1400" b="0">
                <a:solidFill>
                  <a:srgbClr val="243746"/>
                </a:solidFill>
                <a:latin typeface="Aptos"/>
              </a:rPr>
              <a:t>• Historical multi-hospital dataset; local generalizability is unknown.</a:t>
            </a:r>
            <a:br/>
            <a:r>
              <a:rPr sz="1400" b="0">
                <a:solidFill>
                  <a:srgbClr val="243746"/>
                </a:solidFill>
                <a:latin typeface="Aptos"/>
              </a:rPr>
              <a:t>• Outcome imbalance limits the value of accuracy alone.</a:t>
            </a:r>
            <a:br/>
            <a:r>
              <a:rPr sz="1400" b="0">
                <a:solidFill>
                  <a:srgbClr val="243746"/>
                </a:solidFill>
                <a:latin typeface="Aptos"/>
              </a:rPr>
              <a:t>• Associations should not be interpreted as causal effects.</a:t>
            </a:r>
            <a:br/>
            <a:r>
              <a:rPr sz="1400" b="0">
                <a:solidFill>
                  <a:srgbClr val="243746"/>
                </a:solidFill>
                <a:latin typeface="Aptos"/>
              </a:rPr>
              <a:t>• High-utilization groups with small counts require caution.</a:t>
            </a:r>
            <a:br/>
            <a:r>
              <a:rPr sz="1400" b="0">
                <a:solidFill>
                  <a:srgbClr val="243746"/>
                </a:solidFill>
                <a:latin typeface="Aptos"/>
              </a:rPr>
              <a:t>• Model has not undergone external, calibration, fairness, or prospective workflow validation.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417320"/>
            <a:ext cx="4709160" cy="333756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1737360"/>
            <a:ext cx="4160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76B87"/>
                </a:solidFill>
                <a:latin typeface="Aptos"/>
              </a:rPr>
              <a:t>Portfolio / stakeholder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423160"/>
            <a:ext cx="4069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2304A"/>
                </a:solidFill>
                <a:latin typeface="Aptos"/>
              </a:rPr>
              <a:t>Clinical cohort definition</a:t>
            </a:r>
            <a:br/>
            <a:r>
              <a:t>+ healthcare data cleaning</a:t>
            </a:r>
            <a:br/>
            <a:r>
              <a:t>+ feature engineering</a:t>
            </a:r>
            <a:br/>
            <a:r>
              <a:t>+ class-imbalance handling</a:t>
            </a:r>
            <a:br/>
            <a:r>
              <a:t>+ model comparison</a:t>
            </a:r>
            <a:br/>
            <a:r>
              <a:t>+ explainability</a:t>
            </a:r>
            <a:br/>
            <a:r>
              <a:t>+ deployment 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26777"/>
                </a:solidFill>
                <a:latin typeface="Aptos"/>
              </a:rPr>
              <a:t>Source: uploaded Diabetes Readmission Project notebook. Figures shown are screenshots from the notebook analysis.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14  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651052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304A"/>
                </a:solidFill>
                <a:latin typeface="Aptos"/>
              </a:rPr>
              <a:t>Appendix A — Technical Validation: Jupyter Notebook ↔ SQL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777"/>
                </a:solidFill>
                <a:latin typeface="Aptos"/>
              </a:rPr>
              <a:t>The uploaded notebook explicitly establishes the SQL Server connection from Python/Jupyter.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971800" cy="114300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4A"/>
                </a:solidFill>
                <a:latin typeface="Aptos"/>
              </a:rPr>
              <a:t>Jupyter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29968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43746"/>
                </a:solidFill>
                <a:latin typeface="Aptos"/>
              </a:rPr>
              <a:t>Python / pandas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417320"/>
            <a:ext cx="2971800" cy="114300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62763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4A"/>
                </a:solidFill>
                <a:latin typeface="Aptos"/>
              </a:rPr>
              <a:t>PyODBC + SQLAlchemy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029968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43746"/>
                </a:solidFill>
                <a:latin typeface="Aptos"/>
              </a:rPr>
              <a:t>ODBC Driver 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17320"/>
            <a:ext cx="2971800" cy="114300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0" y="162763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4A"/>
                </a:solidFill>
                <a:latin typeface="Aptos"/>
              </a:rPr>
              <a:t>SQL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2029968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43746"/>
                </a:solidFill>
                <a:latin typeface="Aptos"/>
              </a:rPr>
              <a:t>SQLEXPRESS → diabetes_db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175564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76B87"/>
                </a:solidFill>
                <a:latin typeface="Apto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75564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76B87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880360"/>
            <a:ext cx="6400800" cy="2423160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090672"/>
            <a:ext cx="59436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conn = pyodbc.connect(</a:t>
            </a:r>
            <a:br/>
            <a:r>
              <a:t>    "DRIVER={ODBC Driver 17 for SQL Server};"</a:t>
            </a:r>
            <a:br/>
            <a:r>
              <a:t>    "SERVER=.\\SQLEXPRESS;"</a:t>
            </a:r>
            <a:br/>
            <a:r>
              <a:t>    "DATABASE=diabetes_db;"</a:t>
            </a:r>
            <a:br/>
            <a:r>
              <a:t>    "Trusted_Connection=yes;"</a:t>
            </a:r>
            <a:br/>
            <a:r>
              <a:t>)</a:t>
            </a:r>
            <a:br/>
            <a:br/>
            <a:r>
              <a:t>df = pd.read_sql(query, conn)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926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6B87"/>
                </a:solidFill>
                <a:latin typeface="Aptos"/>
              </a:rPr>
              <a:t>Evidence in notebook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3429000"/>
            <a:ext cx="38862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43746"/>
                </a:solidFill>
                <a:latin typeface="Aptos"/>
              </a:rPr>
              <a:t>• pyodbc connection is established from the Jupyter notebook.</a:t>
            </a:r>
            <a:br/>
            <a:r>
              <a:rPr sz="1300" b="0">
                <a:solidFill>
                  <a:srgbClr val="243746"/>
                </a:solidFill>
                <a:latin typeface="Aptos"/>
              </a:rPr>
              <a:t>• SQL Server instance: .\SQLEXPRESS</a:t>
            </a:r>
            <a:br/>
            <a:r>
              <a:rPr sz="1300" b="0">
                <a:solidFill>
                  <a:srgbClr val="243746"/>
                </a:solidFill>
                <a:latin typeface="Aptos"/>
              </a:rPr>
              <a:t>• Database: diabetes_db</a:t>
            </a:r>
            <a:br/>
            <a:r>
              <a:rPr sz="1300" b="0">
                <a:solidFill>
                  <a:srgbClr val="243746"/>
                </a:solidFill>
                <a:latin typeface="Aptos"/>
              </a:rPr>
              <a:t>• pandas uses pd.read_sql() to pull SQL query results into the notebook.</a:t>
            </a:r>
            <a:br/>
            <a:r>
              <a:rPr sz="1300" b="0">
                <a:solidFill>
                  <a:srgbClr val="243746"/>
                </a:solidFill>
                <a:latin typeface="Aptos"/>
              </a:rPr>
              <a:t>• SQLAlchemy is used to write the cleaned dataset back to SQL Server.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15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04A"/>
                </a:solidFill>
                <a:latin typeface="Aptos"/>
              </a:rPr>
              <a:t>This is a genuine database-connected workflow: SQL Server → Jupyter/pandas → analysis/modeling, with the cleaned dataset also written back to SQL Server.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Verified against uploaded Jupyter notebook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APPENDIX A  SQL SERVER CONNECTION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304A"/>
                </a:solidFill>
                <a:latin typeface="Aptos"/>
              </a:rPr>
              <a:t>Appendix B — Cohort Extraction &amp; Data Lineage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777"/>
                </a:solidFill>
                <a:latin typeface="Aptos"/>
              </a:rPr>
              <a:t>The cohort definition and resulting dimensions match the notebook exactly.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6B87"/>
                </a:solidFill>
                <a:latin typeface="Aptos"/>
              </a:rPr>
              <a:t>SQL cohort query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303520" cy="2331720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48006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SELECT *</a:t>
            </a:r>
            <a:br/>
            <a:r>
              <a:rPr sz="1200">
                <a:solidFill>
                  <a:srgbClr val="FFFFFF"/>
                </a:solidFill>
              </a:rPr>
              <a:t>FROM dbo.diabetes_data_clean</a:t>
            </a:r>
            <a:br/>
            <a:r>
              <a:rPr sz="1200">
                <a:solidFill>
                  <a:srgbClr val="FFFFFF"/>
                </a:solidFill>
              </a:rPr>
              <a:t>WHERE (</a:t>
            </a:r>
            <a:br/>
            <a:r>
              <a:rPr sz="1200">
                <a:solidFill>
                  <a:srgbClr val="FFFFFF"/>
                </a:solidFill>
              </a:rPr>
              <a:t>    diag_1 LIKE '250%'</a:t>
            </a:r>
            <a:br/>
            <a:r>
              <a:rPr sz="1200">
                <a:solidFill>
                  <a:srgbClr val="FFFFFF"/>
                </a:solidFill>
              </a:rPr>
              <a:t>    OR diag_2 LIKE '250%'</a:t>
            </a:r>
            <a:br/>
            <a:r>
              <a:rPr sz="1200">
                <a:solidFill>
                  <a:srgbClr val="FFFFFF"/>
                </a:solidFill>
              </a:rPr>
              <a:t>    OR diag_3 LIKE '250%'</a:t>
            </a:r>
            <a:br/>
            <a:r>
              <a:rPr sz="1200">
                <a:solidFill>
                  <a:srgbClr val="FFFFFF"/>
                </a:solidFill>
              </a:rPr>
              <a:t>)</a:t>
            </a:r>
            <a:br/>
            <a:r>
              <a:rPr sz="1200">
                <a:solidFill>
                  <a:srgbClr val="FFFFFF"/>
                </a:solidFill>
              </a:rPr>
              <a:t>AND admission_type_id =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258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latin typeface="Aptos"/>
              </a:defRPr>
            </a:pPr>
            <a:r>
              <a:t>Verified notebook outputs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50749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latin typeface="Aptos"/>
              </a:defRPr>
            </a:pPr>
            <a:r>
              <a:t>• 19,689 emergency inpatient encounters</a:t>
            </a:r>
          </a:p>
          <a:p>
            <a:pPr>
              <a:spcAft>
                <a:spcPts val="600"/>
              </a:spcAft>
              <a:defRPr sz="1400">
                <a:latin typeface="Aptos"/>
              </a:defRPr>
            </a:pPr>
            <a:r>
              <a:t>• 26 cohort variables</a:t>
            </a:r>
          </a:p>
          <a:p>
            <a:pPr>
              <a:spcAft>
                <a:spcPts val="600"/>
              </a:spcAft>
              <a:defRPr sz="1400">
                <a:latin typeface="Aptos"/>
              </a:defRPr>
            </a:pPr>
            <a:r>
              <a:t>• 23 ML predictors after one-hot encoding</a:t>
            </a:r>
          </a:p>
          <a:p>
            <a:pPr>
              <a:spcAft>
                <a:spcPts val="600"/>
              </a:spcAft>
              <a:defRPr sz="1400">
                <a:latin typeface="Aptos"/>
              </a:defRPr>
            </a:pPr>
            <a:r>
              <a:t>• 15,751 training / 3,938 testing</a:t>
            </a:r>
          </a:p>
          <a:p>
            <a:pPr>
              <a:spcAft>
                <a:spcPts val="600"/>
              </a:spcAft>
              <a:defRPr sz="1400">
                <a:latin typeface="Aptos"/>
              </a:defRPr>
            </a:pPr>
            <a:r>
              <a:t>• 2,231 30-day readmissions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805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6B87"/>
                </a:solidFill>
                <a:latin typeface="Aptos"/>
              </a:rPr>
              <a:t>Data lineage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937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43746"/>
                </a:solidFill>
                <a:latin typeface="Aptos"/>
              </a:rPr>
              <a:t>Raw diabetes_data → cleaned/standardized diabetes_data_clean → SQL cohort extraction → readmission_flag → one-hot encoded ML feature matrix → Logistic Regression / Random Forest / XGBoost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Verified against uploaded Jupyter notebook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APPENDIX B  DATA LINEAGE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2304A"/>
                </a:solidFill>
                <a:latin typeface="Aptos"/>
              </a:rPr>
              <a:t>Bottom Line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6777"/>
                </a:solidFill>
                <a:latin typeface="Aptos"/>
              </a:rPr>
              <a:t>What this project demonstrates—and what must happen before clinical 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57800" cy="425196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6420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76B87"/>
                </a:solidFill>
                <a:latin typeface="Aptos"/>
              </a:rPr>
              <a:t>What the project demonstrates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617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/>
              <a:t>• Cohort of 19,689 emergency inpatient diabetes encounters.</a:t>
            </a:r>
            <a:br/>
            <a:br/>
            <a:r>
              <a:rPr sz="1250"/>
              <a:t>• Reproducible SQL Server → Jupyter/pandas workflow.</a:t>
            </a:r>
            <a:br/>
            <a:br/>
            <a:r>
              <a:rPr sz="1250"/>
              <a:t>• Feature engineering and comparison of Logistic Regression, Random Forest, and XGBoost.</a:t>
            </a:r>
            <a:br/>
            <a:br/>
            <a:r>
              <a:rPr sz="1250"/>
              <a:t>• Baseline Logistic Regression: 59.0% recall, 0.309 F1, 0.698 ROC-AUC.</a:t>
            </a:r>
            <a:br/>
            <a:br/>
            <a:r>
              <a:rPr sz="1250"/>
              <a:t>• Emergency utilization and clinical complexity were important predictive signals.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57800" cy="4251960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6420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"/>
              </a:rPr>
              <a:t>Before clinical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48840"/>
            <a:ext cx="45720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FFFFFF"/>
                </a:solidFill>
              </a:rPr>
              <a:t>1. Externally validate on a separate population or time period.</a:t>
            </a:r>
            <a:br/>
            <a:br/>
            <a:r>
              <a:rPr sz="1250">
                <a:solidFill>
                  <a:srgbClr val="FFFFFF"/>
                </a:solidFill>
              </a:rPr>
              <a:t>2. Validate calibration and select a clinically appropriate threshold.</a:t>
            </a:r>
            <a:br/>
            <a:br/>
            <a:r>
              <a:rPr sz="1250">
                <a:solidFill>
                  <a:srgbClr val="FFFFFF"/>
                </a:solidFill>
              </a:rPr>
              <a:t>3. Review false positives and false negatives with clinicians.</a:t>
            </a:r>
            <a:br/>
            <a:br/>
            <a:r>
              <a:rPr sz="1250">
                <a:solidFill>
                  <a:srgbClr val="FFFFFF"/>
                </a:solidFill>
              </a:rPr>
              <a:t>4. Evaluate performance and fairness across patient subgroups.</a:t>
            </a:r>
            <a:br/>
            <a:br/>
            <a:r>
              <a:rPr sz="1250">
                <a:solidFill>
                  <a:srgbClr val="FFFFFF"/>
                </a:solidFill>
              </a:rPr>
              <a:t>5. Define the clinical intervention triggered by a high-risk result.</a:t>
            </a:r>
            <a:br/>
            <a:br/>
            <a:r>
              <a:rPr sz="1250">
                <a:solidFill>
                  <a:srgbClr val="FFFFFF"/>
                </a:solidFill>
              </a:rPr>
              <a:t>6. Prospectively monitor performance after implementation.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5806440"/>
            <a:ext cx="9372600" cy="502920"/>
          </a:xfrm>
          <a:prstGeom prst="roundRect">
            <a:avLst/>
          </a:prstGeom>
          <a:solidFill>
            <a:srgbClr val="E8F3F7"/>
          </a:solidFill>
          <a:ln>
            <a:solidFill>
              <a:srgbClr val="CD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5907024"/>
            <a:ext cx="9006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2304A"/>
                </a:solidFill>
                <a:latin typeface="Aptos"/>
              </a:rPr>
              <a:t>Stakeholder question: What clinical action should a high-risk score trigger?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