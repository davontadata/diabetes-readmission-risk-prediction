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927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ptos"/>
              </a:rPr>
              <a:t>Predicting 30-Day Hospital Readmission Risk</a:t>
            </a:r>
            <a:br/>
            <a:r>
              <a:rPr sz="2900" b="1">
                <a:solidFill>
                  <a:srgbClr val="FFFFFF"/>
                </a:solidFill>
                <a:latin typeface="Aptos"/>
              </a:rPr>
              <a:t>Among Emergency Inpatient Encounters With Diabetes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190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DE0E9"/>
                </a:solidFill>
                <a:latin typeface="Aptos"/>
              </a:rPr>
              <a:t>End-to-end healthcare data-science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61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SQL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6B87"/>
                </a:solidFill>
                <a:latin typeface="Aptos"/>
              </a:rPr>
              <a:t>Source + database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502152"/>
            <a:ext cx="2459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Diabetes encounter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3081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514600"/>
            <a:ext cx="3749039" cy="1554480"/>
          </a:xfrm>
          <a:prstGeom prst="roundRect">
            <a:avLst/>
          </a:prstGeom>
          <a:solidFill>
            <a:srgbClr val="E8F3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761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JUPYTER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6B87"/>
                </a:solidFill>
                <a:latin typeface="Aptos"/>
              </a:rPr>
              <a:t>Primary data-science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1" y="3502152"/>
            <a:ext cx="3419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Connection → extraction → cleaning → EDA →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7" y="3081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51460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76148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546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6B87"/>
                </a:solidFill>
                <a:latin typeface="Aptos"/>
              </a:rPr>
              <a:t>Application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3502152"/>
            <a:ext cx="2916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43746"/>
                </a:solidFill>
                <a:latin typeface="Aptos"/>
              </a:rPr>
              <a:t>Trained model made interactive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561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E0E9"/>
                </a:solidFill>
                <a:latin typeface="Aptos"/>
              </a:rPr>
              <a:t>PROJECT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378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Identify demographic, clinical, and healthcare-utilization factors associated with 30-day readmission and develop a machine-learning-ready risk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DE0E9"/>
                </a:solidFill>
                <a:latin typeface="Aptos"/>
              </a:rPr>
              <a:t>Cohort: 19,689 emergency inpatient encounters with diabetes  |  Outcome: readmission within 30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304A"/>
                </a:solidFill>
                <a:latin typeface="Aptos"/>
              </a:rPr>
              <a:t>Executive Summary: 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6B87"/>
                </a:solidFill>
                <a:latin typeface="Aptos"/>
              </a:rPr>
              <a:t>The entire data-science workflow was performed in Jupyter Notebook, connected directly to SQL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6812280" cy="43434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733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6B87"/>
                </a:solidFill>
                <a:latin typeface="Aptos"/>
              </a:rPr>
              <a:t>Workflow completed in the Jupyter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SQL Server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4884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Connected Jupyter/Python to SQL Server and queried the healthcare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07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Cohort +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807208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Built the diabetes emergency-admission cohort and cleaned/standardized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55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655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465576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Performed EDA, clinical/utilization analysis, and feature engineering.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23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23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12394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Trained and compared Logistic Regression, Random Forest, and XGBoost.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82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6B87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82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2304A"/>
                </a:solidFill>
                <a:latin typeface="Aptos"/>
              </a:rPr>
              <a:t>Evaluation +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782312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43746"/>
                </a:solidFill>
                <a:latin typeface="Aptos"/>
              </a:rPr>
              <a:t>Evaluated the models, saved the selected model, and used it in Streamlit.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41732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7" y="152704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19,689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Emergency inpatient encounters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251460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7" y="262432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2,231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30-day readmissions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361188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7" y="372160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0.672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Logistic Regression ROC-AUC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4709160"/>
            <a:ext cx="3703320" cy="91440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481888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50.9%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Logistic Regression 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304A"/>
                </a:solidFill>
                <a:latin typeface="Aptos"/>
              </a:rPr>
              <a:t>Key message: SQL Server supplied the data; Jupyter Notebook performed the project; Streamlit provided the application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Clinical Question &amp;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From a clinical problem to an analyzable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Research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89920" cy="96012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304A"/>
                </a:solidFill>
                <a:latin typeface="Aptos"/>
              </a:rPr>
              <a:t>Which demographic, clinical, and healthcare-utilization factors are associated with 30-day hospital readmission among emergency inpatient encounters with diabetes?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Cohort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  <a:latin typeface="Aptos"/>
              </a:defRPr>
            </a:pPr>
            <a:r>
              <a:rPr sz="1300" b="0">
                <a:solidFill>
                  <a:srgbClr val="243746"/>
                </a:solidFill>
                <a:latin typeface="Aptos"/>
              </a:rPr>
              <a:t>• Source: Diabetes 130-US Hospitals dataset (101,766 encounters; 50 variables).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Diabetes-related encounters identified using ICD-9 diagnosis codes beginning with 250%.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Emergency admissions selected using admission_type_id = 1.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Final cohort: 19,689 emergency inpatient encounters.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Target: &lt;30 days = 1; NO or &gt;30 =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29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SQL Server</a:t>
            </a:r>
            <a:br/>
            <a:r>
              <a:t>↓</a:t>
            </a:r>
            <a:br/>
            <a:r>
              <a:t>Cohort extraction → cleaning → EDA</a:t>
            </a:r>
            <a:br/>
            <a:r>
              <a:t>↓</a:t>
            </a:r>
            <a:br/>
            <a:r>
              <a:t>Feature engineering → stratified split</a:t>
            </a:r>
            <a:br/>
            <a:r>
              <a:t>↓</a:t>
            </a:r>
            <a:br/>
            <a:r>
              <a:t>Modeling → evaluation → interpretation</a:t>
            </a:r>
            <a:br/>
            <a:r>
              <a:t>↓</a:t>
            </a:r>
            <a:br/>
            <a:r>
              <a:t>Saved model for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03  CLINICAL QUESTION &amp; COHORT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Who Is in the Cohort?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Cohort profile from the emergency inpatient encounter dataset</a:t>
            </a:r>
          </a:p>
        </p:txBody>
      </p:sp>
      <p:pic>
        <p:nvPicPr>
          <p:cNvPr id="5" name="Picture 4" descr="nb_cell_7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657600" cy="2487168"/>
          </a:xfrm>
          <a:prstGeom prst="rect">
            <a:avLst/>
          </a:prstGeom>
        </p:spPr>
      </p:pic>
      <p:pic>
        <p:nvPicPr>
          <p:cNvPr id="6" name="Picture 5" descr="nb_cell_7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25880"/>
            <a:ext cx="3337560" cy="2450592"/>
          </a:xfrm>
          <a:prstGeom prst="rect">
            <a:avLst/>
          </a:prstGeom>
        </p:spPr>
      </p:pic>
      <p:pic>
        <p:nvPicPr>
          <p:cNvPr id="7" name="Picture 6" descr="nb_cell_8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25880"/>
            <a:ext cx="3886200" cy="2487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160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304A"/>
                </a:solidFill>
                <a:latin typeface="Aptos"/>
              </a:rPr>
              <a:t>Female 54.4% | Male 45.6% | White 66.5% | Black 27.4%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3746"/>
                </a:solidFill>
                <a:latin typeface="Aptos"/>
              </a:rPr>
              <a:t>Age is concentrated around the 55-, 65-, and 75-year groups. This demographic mix matters when considering model transportability to a different hospital or patient population.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04  COHORT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The Clinical Outcome: 30-Day Readmission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The target is clinically meaningful—and strongly imbalanced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17,458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no 30-day readmission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2,231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30-day readmissions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88.67%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non-readmission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325880"/>
            <a:ext cx="25146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1490472"/>
            <a:ext cx="2368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304A"/>
                </a:solidFill>
                <a:latin typeface="Aptos"/>
              </a:rPr>
              <a:t>11.33%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1920240"/>
            <a:ext cx="2368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26777"/>
                </a:solidFill>
                <a:latin typeface="Aptos"/>
              </a:rPr>
              <a:t>readmission</a:t>
            </a:r>
          </a:p>
        </p:txBody>
      </p:sp>
      <p:pic>
        <p:nvPicPr>
          <p:cNvPr id="17" name="Picture 16" descr="nb_cell_12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743200"/>
            <a:ext cx="6400800" cy="3246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64040" y="2880360"/>
            <a:ext cx="1965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304A"/>
                </a:solidFill>
                <a:latin typeface="Aptos"/>
              </a:rPr>
              <a:t>Why imbalance matters</a:t>
            </a:r>
            <a:br/>
            <a:br/>
            <a:r>
              <a:rPr sz="1300" b="0">
                <a:solidFill>
                  <a:srgbClr val="12304A"/>
                </a:solidFill>
                <a:latin typeface="Aptos"/>
              </a:rPr>
              <a:t>A model can look “accurate” while still missing many encounters that actually readmit.</a:t>
            </a:r>
            <a:br/>
            <a:br/>
            <a:r>
              <a:rPr sz="1300" b="0">
                <a:solidFill>
                  <a:srgbClr val="12304A"/>
                </a:solidFill>
                <a:latin typeface="Aptos"/>
              </a:rPr>
              <a:t>That is why recall, precision, F1, and ROC-AUC are all important.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05 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Healthcare Utilization Emerged as a Key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Prior utilization showed the clearest risk pattern</a:t>
            </a:r>
          </a:p>
        </p:txBody>
      </p:sp>
      <p:pic>
        <p:nvPicPr>
          <p:cNvPr id="5" name="Picture 4" descr="nb_cell_14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49240" cy="3611880"/>
          </a:xfrm>
          <a:prstGeom prst="rect">
            <a:avLst/>
          </a:prstGeom>
        </p:spPr>
      </p:pic>
      <p:pic>
        <p:nvPicPr>
          <p:cNvPr id="6" name="Picture 5" descr="nb_cell_16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4924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74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  <a:latin typeface="Aptos"/>
              </a:defRPr>
            </a:pPr>
            <a:r>
              <a:rPr sz="1300" b="0">
                <a:solidFill>
                  <a:srgbClr val="243746"/>
                </a:solidFill>
                <a:latin typeface="Aptos"/>
              </a:rPr>
              <a:t>• Mean total inpatient visits: 1.51 among encounters without 30-day readmission vs 2.81 among 30-day readmission encounters.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Mean length of stay: 3.82 vs 4.39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06  EXPLORATORY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Clinical &amp; Diabetes-Management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Glycemic and treatment variables were evaluated alongside utilization</a:t>
            </a:r>
          </a:p>
        </p:txBody>
      </p:sp>
      <p:pic>
        <p:nvPicPr>
          <p:cNvPr id="5" name="Picture 4" descr="nb_cell_10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257800" cy="3611880"/>
          </a:xfrm>
          <a:prstGeom prst="rect">
            <a:avLst/>
          </a:prstGeom>
        </p:spPr>
      </p:pic>
      <p:pic>
        <p:nvPicPr>
          <p:cNvPr id="6" name="Picture 5" descr="nb_cell_1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5780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166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43746"/>
                </a:solidFill>
                <a:latin typeface="Aptos"/>
              </a:rPr>
              <a:t>A1C, maximum glucose, insulin, and medication-change indicators were evaluated as candidate predictors. In the fitted model, utilization variables provided stronger positive signal than many individual glycemic categories.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07  CLINICAL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Machine-Learning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Three supervised classifiers were compared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2628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7315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 marL="73152" marR="7315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Tradeoff</a:t>
                      </a:r>
                    </a:p>
                  </a:txBody>
                  <a:tcPr marL="73152" marR="73152">
                    <a:solidFill>
                      <a:srgbClr val="1230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Interpretable coefficients; clinical explanation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Moderate discrimination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73152" marR="73152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Nonlinear ensemble</a:t>
                      </a:r>
                    </a:p>
                  </a:txBody>
                  <a:tcPr marL="73152" marR="73152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Weak readmission recall in this experiment</a:t>
                      </a:r>
                    </a:p>
                  </a:txBody>
                  <a:tcPr marL="73152" marR="73152">
                    <a:solidFill>
                      <a:srgbClr val="F3F7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Gradient-boosted nonlinear model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Below Logistic Regression on ROC-AUC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6177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2304A"/>
                </a:solidFill>
                <a:latin typeface="Aptos"/>
              </a:rPr>
              <a:t>Modeling dataset: 19,689 emergency inpatient encounters × 18 predictors. Stratified train/test split: 15,751 training and 3,938 testing encounters.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08  MODEL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Logistic Regression was selected for the prototype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00200"/>
                <a:gridCol w="1691640"/>
                <a:gridCol w="1600200"/>
                <a:gridCol w="1417320"/>
                <a:gridCol w="24231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230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69.8%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50.9%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0.672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78.1%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14.8%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0.533</a:t>
                      </a:r>
                    </a:p>
                  </a:txBody>
                  <a:tcPr>
                    <a:solidFill>
                      <a:srgbClr val="F3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68.4%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0.590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1605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Selection rationale: Logistic Regression had the highest ROC-AUC (0.672) and the highest recall for the 30-day readmission class (50.9%) among the tested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892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3746"/>
                </a:solidFill>
                <a:latin typeface="Aptos"/>
              </a:rPr>
              <a:t>Important limitation: precision was 18.9%, so many flagged encounters would not readmit. Threshold optimization and probability calibration are required before operational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09  MODEL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What the Selected Model Actually Catches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Confusion matrix from the Logistic Regression test set</a:t>
            </a:r>
          </a:p>
        </p:txBody>
      </p:sp>
      <p:pic>
        <p:nvPicPr>
          <p:cNvPr id="5" name="Picture 4" descr="nb_cell_19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62356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4173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Test-set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74519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  <a:latin typeface="Aptos"/>
              </a:defRPr>
            </a:pPr>
            <a:r>
              <a:rPr sz="1400" b="0">
                <a:solidFill>
                  <a:srgbClr val="243746"/>
                </a:solidFill>
                <a:latin typeface="Aptos"/>
              </a:rPr>
              <a:t>• 446 actual 30-day readmission encounters in the test set.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227 true positives identified.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219 readmission encounters missed (false negatives).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971 false positives flagged.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4526280"/>
            <a:ext cx="4754880" cy="109728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73659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304A"/>
                </a:solidFill>
                <a:latin typeface="Aptos"/>
              </a:rPr>
              <a:t>Best current use: risk-enrichment list for human review—not autonomous clinical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10  MODEL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Interpretable Drivers of Predicted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Logistic Regression provides an explainable starting point</a:t>
            </a:r>
          </a:p>
        </p:txBody>
      </p:sp>
      <p:pic>
        <p:nvPicPr>
          <p:cNvPr id="5" name="Picture 4" descr="nb_cell_20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62940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Key model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74519"/>
            <a:ext cx="3794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  <a:latin typeface="Aptos"/>
              </a:defRPr>
            </a:pPr>
            <a:r>
              <a:rPr sz="1300" b="0">
                <a:solidFill>
                  <a:srgbClr val="243746"/>
                </a:solidFill>
                <a:latin typeface="Aptos"/>
              </a:rPr>
              <a:t>• number_inpatient_visits: strongest positive coefficient (+0.293)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number_emergency: positive association (+0.084)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time_in_hospital: positive association (+0.057)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Several treatment/glycemic indicators had negative coefficients in this fitted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526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4A"/>
                </a:solidFill>
                <a:latin typeface="Aptos"/>
              </a:rPr>
              <a:t>Coefficients describe associations in the fitted model—not causal effects.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172200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Cohort: emergency inpatient encounters with diabetes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11  MODEL DRIVERS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304A"/>
                </a:solidFill>
                <a:latin typeface="Aptos"/>
              </a:rPr>
              <a:t>Model Deployment: From Jupyter Notebook to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6777"/>
                </a:solidFill>
                <a:latin typeface="Aptos"/>
              </a:rPr>
              <a:t>The complete data-science workflow was performed in the Jupyter Notebook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971800" cy="141732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9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6B87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58191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SQL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43746"/>
                </a:solidFill>
                <a:latin typeface="Aptos"/>
              </a:rPr>
              <a:t>Data storage + SQL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18745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611880" cy="1417320"/>
          </a:xfrm>
          <a:prstGeom prst="roundRect">
            <a:avLst/>
          </a:prstGeom>
          <a:solidFill>
            <a:srgbClr val="E8F3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09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6B8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58191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JUPYTER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93392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43746"/>
                </a:solidFill>
                <a:latin typeface="Aptos"/>
              </a:rPr>
              <a:t>Connection, extraction, cleaning, EDA,</a:t>
            </a:r>
            <a:br/>
            <a:r>
              <a:rPr sz="1050" b="0">
                <a:solidFill>
                  <a:srgbClr val="243746"/>
                </a:solidFill>
                <a:latin typeface="Aptos"/>
              </a:rPr>
              <a:t>feature engineering, ML,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18745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383280" cy="141732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093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76B8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15819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9339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43746"/>
                </a:solidFill>
                <a:latin typeface="Aptos"/>
              </a:rPr>
              <a:t>Application using the trained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6120"/>
            <a:ext cx="10652760" cy="123444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493008"/>
            <a:ext cx="10104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JUPYTER NOTEBOOK = PRIMARY DATA-SCIENCE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913632"/>
            <a:ext cx="10104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SQL Server connection → data extraction → cohort construction → cleaning → EDA → feature engineering → model training → evaluation → model saving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00600"/>
            <a:ext cx="507492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6B87"/>
                </a:solidFill>
                <a:latin typeface="Aptos"/>
              </a:rPr>
              <a:t>CURRENT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4009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2304A"/>
                </a:solidFill>
                <a:latin typeface="Aptos"/>
              </a:rPr>
              <a:t>SQL Server + Jupyter + trained ML model + Streamlit prototype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00600"/>
            <a:ext cx="5074920" cy="1143000"/>
          </a:xfrm>
          <a:prstGeom prst="roundRect">
            <a:avLst/>
          </a:prstGeom>
          <a:solidFill>
            <a:srgbClr val="F5F7F8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010912"/>
            <a:ext cx="4709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6B87"/>
                </a:solidFill>
                <a:latin typeface="Aptos"/>
              </a:rPr>
              <a:t>FUTURE CLINICAL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40096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2304A"/>
                </a:solidFill>
                <a:latin typeface="Aptos"/>
              </a:rPr>
              <a:t>External validation + calibration + clinical workflow integration +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What Must Happen Before Clinical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Validation is the next major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External validation on a separate hospital, health system, or time period.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Probability calibration and clinically meaningful operating thresholds.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Review false positives and false negatives with clinicians/case managers.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Evaluate performance and fairness across demographic subgroups.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Define the intervention attached to a high-risk flag.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Prospective monitoring after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754880" cy="347472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8745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Stakeholder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65176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If the score were accurate enough for your setting,</a:t>
            </a:r>
            <a:br/>
            <a:br/>
            <a:r>
              <a:rPr sz="2000" b="1">
                <a:solidFill>
                  <a:srgbClr val="FFFFFF"/>
                </a:solidFill>
                <a:latin typeface="Aptos"/>
              </a:rPr>
              <a:t>what clinical action would you want it to trigger?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5257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304A"/>
                </a:solidFill>
                <a:latin typeface="Aptos"/>
              </a:rPr>
              <a:t>The intervention should be designed before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13  CLINICAL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304A"/>
                </a:solidFill>
                <a:latin typeface="Aptos"/>
              </a:rP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A complete clinical data-science workflow—not just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  <a:latin typeface="Aptos"/>
              </a:defRPr>
            </a:pPr>
            <a:r>
              <a:rPr sz="1400" b="0">
                <a:solidFill>
                  <a:srgbClr val="243746"/>
                </a:solidFill>
                <a:latin typeface="Aptos"/>
              </a:rPr>
              <a:t>• Historical multi-hospital dataset; local generalizability is unknown.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Outcome imbalance limits the value of accuracy alone.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Associations should not be interpreted as causal effects.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High-utilization groups with small counts require caution.</a:t>
            </a:r>
            <a:br/>
            <a:r>
              <a:rPr sz="1400" b="0">
                <a:solidFill>
                  <a:srgbClr val="243746"/>
                </a:solidFill>
                <a:latin typeface="Aptos"/>
              </a:rPr>
              <a:t>• Model has not undergone external, calibration, fairness, or prospective workflow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17320"/>
            <a:ext cx="4709160" cy="333756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737360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6B87"/>
                </a:solidFill>
                <a:latin typeface="Aptos"/>
              </a:rPr>
              <a:t>Portfolio / stakeholder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23160"/>
            <a:ext cx="4069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304A"/>
                </a:solidFill>
                <a:latin typeface="Aptos"/>
              </a:rPr>
              <a:t>Clinical cohort definition</a:t>
            </a:r>
            <a:br/>
            <a:r>
              <a:t>+ healthcare data cleaning</a:t>
            </a:r>
            <a:br/>
            <a:r>
              <a:t>+ feature engineering</a:t>
            </a:r>
            <a:br/>
            <a:r>
              <a:t>+ class-imbalance handling</a:t>
            </a:r>
            <a:br/>
            <a:r>
              <a:t>+ model comparison</a:t>
            </a:r>
            <a:br/>
            <a:r>
              <a:t>+ explainability</a:t>
            </a:r>
            <a:br/>
            <a:r>
              <a:t>+ deployment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26777"/>
                </a:solidFill>
                <a:latin typeface="Aptos"/>
              </a:rPr>
              <a:t>Source: uploaded Diabetes Readmission Project notebook. Figures shown are screenshots from the notebook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14  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Aptos"/>
              </a:rPr>
              <a:t>Appendix A — Technical Validation: Jupyter Notebook ↔ SQL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The uploaded notebook explicitly establishes the SQL Server connection from Python/Jupyter.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9718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Jupyter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43746"/>
                </a:solidFill>
                <a:latin typeface="Aptos"/>
              </a:rPr>
              <a:t>Python / pandas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29718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2763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PyODBC + SQLAlchemy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2996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43746"/>
                </a:solidFill>
                <a:latin typeface="Aptos"/>
              </a:rPr>
              <a:t>ODBC Driver 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2971800" cy="114300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62763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A"/>
                </a:solidFill>
                <a:latin typeface="Aptos"/>
              </a:rPr>
              <a:t>SQL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029968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43746"/>
                </a:solidFill>
                <a:latin typeface="Aptos"/>
              </a:rPr>
              <a:t>SQLEXPRESS → diabetes_db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755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755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6B8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80360"/>
            <a:ext cx="6400800" cy="24231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90672"/>
            <a:ext cx="5943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conn = pyodbc.connect(</a:t>
            </a:r>
            <a:br/>
            <a:r>
              <a:t>    "DRIVER={ODBC Driver 17 for SQL Server};"</a:t>
            </a:r>
            <a:br/>
            <a:r>
              <a:t>    "SERVER=.\\SQLEXPRESS;"</a:t>
            </a:r>
            <a:br/>
            <a:r>
              <a:t>    "DATABASE=diabetes_db;"</a:t>
            </a:r>
            <a:br/>
            <a:r>
              <a:t>    "Trusted_Connection=yes;"</a:t>
            </a:r>
            <a:br/>
            <a:r>
              <a:t>)</a:t>
            </a:r>
            <a:br/>
            <a:br/>
            <a:r>
              <a:t>df = pd.read_sql(query, conn)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Evidence in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429000"/>
            <a:ext cx="3886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3746"/>
                </a:solidFill>
                <a:latin typeface="Aptos"/>
              </a:rPr>
              <a:t>• pyodbc connection is established from the Jupyter notebook.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SQL Server instance: .\SQLEXPRESS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Database: diabetes_db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pandas uses pd.read_sql() to pull SQL query results into the notebook.</a:t>
            </a:r>
            <a:br/>
            <a:r>
              <a:rPr sz="1300" b="0">
                <a:solidFill>
                  <a:srgbClr val="243746"/>
                </a:solidFill>
                <a:latin typeface="Aptos"/>
              </a:rPr>
              <a:t>• SQLAlchemy is used to write the cleaned dataset back to SQL Server.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304A"/>
                </a:solidFill>
                <a:latin typeface="Aptos"/>
              </a:rPr>
              <a:t>This is a genuine database-connected workflow: SQL Server → Jupyter/pandas → analysis/modeling, with the cleaned dataset also written back to SQL Server.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Verified against uploaded Jupyter notebook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APPENDIX A  SQL SERVER CONNECTION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304A"/>
                </a:solidFill>
                <a:latin typeface="Aptos"/>
              </a:rPr>
              <a:t>Appendix B — Cohort Extraction &amp; Data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777"/>
                </a:solidFill>
                <a:latin typeface="Aptos"/>
              </a:rPr>
              <a:t>The cohort definition and resulting dimensions match the notebook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SQL cohort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03520" cy="233172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SELECT *</a:t>
            </a:r>
            <a:br/>
            <a:r>
              <a:t>FROM dbo.diabetes_data_clean</a:t>
            </a:r>
            <a:br/>
            <a:r>
              <a:t>WHERE (</a:t>
            </a:r>
            <a:br/>
            <a:r>
              <a:t>    diag_1 LIKE '250%'</a:t>
            </a:r>
            <a:br/>
            <a:r>
              <a:t>    OR diag_2 LIKE '250%'</a:t>
            </a:r>
            <a:br/>
            <a:r>
              <a:t>    OR diag_3 LIKE '250%'</a:t>
            </a:r>
            <a:br/>
            <a:r>
              <a:t>)</a:t>
            </a:r>
            <a:br/>
            <a:r>
              <a:t>AND admission_type_id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Verified notebook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0749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304A"/>
                </a:solidFill>
                <a:latin typeface="Aptos"/>
              </a:rPr>
              <a:t>19,689 emergency inpatient encounters</a:t>
            </a:r>
            <a:br/>
            <a:r>
              <a:rPr sz="1800" b="1">
                <a:solidFill>
                  <a:srgbClr val="12304A"/>
                </a:solidFill>
                <a:latin typeface="Aptos"/>
              </a:rPr>
              <a:t>26 cohort variables</a:t>
            </a:r>
            <a:br/>
            <a:r>
              <a:rPr sz="1800" b="1">
                <a:solidFill>
                  <a:srgbClr val="12304A"/>
                </a:solidFill>
                <a:latin typeface="Aptos"/>
              </a:rPr>
              <a:t>18 ML predictors</a:t>
            </a:r>
            <a:br/>
            <a:r>
              <a:rPr sz="1800" b="1">
                <a:solidFill>
                  <a:srgbClr val="12304A"/>
                </a:solidFill>
                <a:latin typeface="Aptos"/>
              </a:rPr>
              <a:t>15,751 training / 3,938 testing</a:t>
            </a:r>
            <a:br/>
            <a:r>
              <a:rPr sz="1800" b="1">
                <a:solidFill>
                  <a:srgbClr val="12304A"/>
                </a:solidFill>
                <a:latin typeface="Aptos"/>
              </a:rPr>
              <a:t>2,231 30-day readmissions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  <a:latin typeface="Aptos"/>
              </a:rPr>
              <a:t>Data lineage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37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43746"/>
                </a:solidFill>
                <a:latin typeface="Aptos"/>
              </a:rPr>
              <a:t>Raw diabetes_data → cleaned/standardized diabetes_data_clean → SQL cohort extraction → readmission_flag → one-hot encoded ML feature matrix → Logistic Regression / Random Forest / 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Verified against uploaded Jupyter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0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76B87"/>
                </a:solidFill>
                <a:latin typeface="Aptos"/>
              </a:rPr>
              <a:t>APPENDIX B  DATA LINEAGE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2304A"/>
                </a:solidFill>
                <a:latin typeface="Aptos"/>
              </a:rPr>
              <a:t>Bottom Line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6777"/>
                </a:solidFill>
                <a:latin typeface="Aptos"/>
              </a:rPr>
              <a:t>What this project demonstrates—and what must happen before clinical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251960"/>
          </a:xfrm>
          <a:prstGeom prst="roundRect">
            <a:avLst/>
          </a:prstGeom>
          <a:solidFill>
            <a:srgbClr val="F3F7F9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76B87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17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43746"/>
                </a:solidFill>
                <a:latin typeface="Aptos"/>
              </a:rPr>
              <a:t>• A clinically defined cohort of 19,689 emergency inpatient encounters with diabetes.</a:t>
            </a:r>
            <a:br/>
            <a:br/>
            <a:r>
              <a:rPr sz="1300" b="0">
                <a:solidFill>
                  <a:srgbClr val="243746"/>
                </a:solidFill>
                <a:latin typeface="Aptos"/>
              </a:rPr>
              <a:t>• A reproducible SQL Server → Jupyter/pandas workflow for healthcare data preparation.</a:t>
            </a:r>
            <a:br/>
            <a:br/>
            <a:r>
              <a:rPr sz="1300" b="0">
                <a:solidFill>
                  <a:srgbClr val="243746"/>
                </a:solidFill>
                <a:latin typeface="Aptos"/>
              </a:rPr>
              <a:t>• Feature engineering and comparison of Logistic Regression, Random Forest, and XGBoost.</a:t>
            </a:r>
            <a:br/>
            <a:br/>
            <a:r>
              <a:rPr sz="1300" b="0">
                <a:solidFill>
                  <a:srgbClr val="243746"/>
                </a:solidFill>
                <a:latin typeface="Aptos"/>
              </a:rPr>
              <a:t>• Logistic Regression provided the strongest ROC-AUC (0.672) and readmission recall (50.9%) in this experiment.</a:t>
            </a:r>
            <a:br/>
            <a:br/>
            <a:r>
              <a:rPr sz="1300" b="0">
                <a:solidFill>
                  <a:srgbClr val="243746"/>
                </a:solidFill>
                <a:latin typeface="Aptos"/>
              </a:rPr>
              <a:t>• Healthcare-utilization history—especially prior inpatient use—was an important predictive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42519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64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Before clinical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5720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1. Externally validate the model on a separate population or time period.</a:t>
            </a:r>
            <a:br/>
            <a:br/>
            <a:r>
              <a:rPr sz="1300" b="0">
                <a:solidFill>
                  <a:srgbClr val="FFFFFF"/>
                </a:solidFill>
                <a:latin typeface="Aptos"/>
              </a:rPr>
              <a:t>2. Calibrate predicted probabilities and select a clinically appropriate threshold.</a:t>
            </a:r>
            <a:br/>
            <a:br/>
            <a:r>
              <a:rPr sz="1300" b="0">
                <a:solidFill>
                  <a:srgbClr val="FFFFFF"/>
                </a:solidFill>
                <a:latin typeface="Aptos"/>
              </a:rPr>
              <a:t>3. Review false positives and false negatives with clinicians and case managers.</a:t>
            </a:r>
            <a:br/>
            <a:br/>
            <a:r>
              <a:rPr sz="1300" b="0">
                <a:solidFill>
                  <a:srgbClr val="FFFFFF"/>
                </a:solidFill>
                <a:latin typeface="Aptos"/>
              </a:rPr>
              <a:t>4. Evaluate performance and fairness across relevant patient subgroups.</a:t>
            </a:r>
            <a:br/>
            <a:br/>
            <a:r>
              <a:rPr sz="1300" b="0">
                <a:solidFill>
                  <a:srgbClr val="FFFFFF"/>
                </a:solidFill>
                <a:latin typeface="Aptos"/>
              </a:rPr>
              <a:t>5. Define the clinical intervention triggered by a high-risk result.</a:t>
            </a:r>
            <a:br/>
            <a:br/>
            <a:r>
              <a:rPr sz="1300" b="0">
                <a:solidFill>
                  <a:srgbClr val="FFFFFF"/>
                </a:solidFill>
                <a:latin typeface="Aptos"/>
              </a:rPr>
              <a:t>6. Prospectively monitor model performance after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5806440"/>
            <a:ext cx="9372600" cy="502920"/>
          </a:xfrm>
          <a:prstGeom prst="roundRect">
            <a:avLst/>
          </a:prstGeom>
          <a:solidFill>
            <a:srgbClr val="E8F3F7"/>
          </a:solidFill>
          <a:ln>
            <a:solidFill>
              <a:srgbClr val="CD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5907024"/>
            <a:ext cx="9006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04A"/>
                </a:solidFill>
                <a:latin typeface="Aptos"/>
              </a:rPr>
              <a:t>Stakeholder question: What clinical action should a high-risk score trigger?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601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526777"/>
                </a:solidFill>
                <a:latin typeface="Aptos"/>
              </a:rPr>
              <a:t>Diabetes 30-Day Readmission Risk | Clinical Data Science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26777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